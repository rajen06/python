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6D7EC2-744D-4DC8-97C4-038923653F5A}">
  <a:tblStyle styleId="{F56D7EC2-744D-4DC8-97C4-038923653F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038e99c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038e99c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9038e99c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9038e99c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9038e99c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9038e99c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9038e99c6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9038e99c6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038e99c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9038e99c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038e99c6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038e99c6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038e99c6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038e99c6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9038e99c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9038e99c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9038e99c6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9038e99c6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9038e99c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9038e99c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038e99c6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038e99c6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038e99c6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038e99c6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9038e99c6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9038e99c6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038e99c6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038e99c6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9038e99c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9038e99c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9038e99c6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9038e99c6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038e99c6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038e99c6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9038e99c6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9038e99c6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9038e99c6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9038e99c6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038e99c6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038e99c6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038e99c6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038e99c6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038e99c6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038e99c6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245417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efficiency in programming?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0" y="245417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Why efficiency is important?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Types of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Space and Time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Our focus - Time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0" y="24541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Techniques to measure time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Measuring </a:t>
            </a:r>
            <a:r>
              <a:rPr b="1" lang="en" sz="3000">
                <a:solidFill>
                  <a:srgbClr val="FF0000"/>
                </a:solidFill>
              </a:rPr>
              <a:t>time</a:t>
            </a:r>
            <a:r>
              <a:rPr lang="en" sz="3000"/>
              <a:t> to execute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en" sz="3000">
                <a:solidFill>
                  <a:srgbClr val="FF0000"/>
                </a:solidFill>
              </a:rPr>
              <a:t>Counting</a:t>
            </a:r>
            <a:r>
              <a:rPr lang="en" sz="3000"/>
              <a:t> operations involved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Abstract notion of </a:t>
            </a:r>
            <a:r>
              <a:rPr b="1" lang="en" sz="3000">
                <a:solidFill>
                  <a:srgbClr val="FF0000"/>
                </a:solidFill>
              </a:rPr>
              <a:t>order of growth</a:t>
            </a:r>
            <a:endParaRPr b="1"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558800" lvl="0" marL="457200" rtl="0" algn="ctr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5200"/>
              <a:buFont typeface="Merriweather"/>
              <a:buAutoNum type="arabicPeriod"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Measuring Time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261250"/>
            <a:ext cx="8520600" cy="48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0000"/>
                </a:solidFill>
              </a:rPr>
              <a:t>Problems with this approach</a:t>
            </a:r>
            <a:endParaRPr b="1" sz="3000">
              <a:solidFill>
                <a:srgbClr val="FF0000"/>
              </a:solidFill>
            </a:endParaRPr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952500" y="12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{F56D7EC2-744D-4DC8-97C4-038923653F5A}</a:tableStyleId>
              </a:tblPr>
              <a:tblGrid>
                <a:gridCol w="6153700"/>
                <a:gridCol w="1085300"/>
              </a:tblGrid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time for different algorithm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    </a:t>
                      </a: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✔️</a:t>
                      </a:r>
                      <a:endParaRPr b="1" sz="24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if implementation changes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machines different time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Does not work for extremely small input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0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for different inputs, but can’t establish a relationship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21"/>
          <p:cNvSpPr/>
          <p:nvPr/>
        </p:nvSpPr>
        <p:spPr>
          <a:xfrm>
            <a:off x="7321725" y="19158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7397925" y="25254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7397925" y="3211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7397925" y="3973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2. Counting Operations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261250"/>
            <a:ext cx="8520600" cy="48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0000"/>
                </a:solidFill>
              </a:rPr>
              <a:t>Problems with this approach</a:t>
            </a:r>
            <a:endParaRPr b="1" sz="3000">
              <a:solidFill>
                <a:srgbClr val="FF0000"/>
              </a:solidFill>
            </a:endParaRPr>
          </a:p>
        </p:txBody>
      </p:sp>
      <p:graphicFrame>
        <p:nvGraphicFramePr>
          <p:cNvPr id="123" name="Google Shape;123;p24"/>
          <p:cNvGraphicFramePr/>
          <p:nvPr/>
        </p:nvGraphicFramePr>
        <p:xfrm>
          <a:off x="952500" y="12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{F56D7EC2-744D-4DC8-97C4-038923653F5A}</a:tableStyleId>
              </a:tblPr>
              <a:tblGrid>
                <a:gridCol w="6153700"/>
                <a:gridCol w="1085300"/>
              </a:tblGrid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time for different algorithm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    </a:t>
                      </a: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✔️</a:t>
                      </a:r>
                      <a:endParaRPr b="1" sz="24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if implementation changes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machines different time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    ✔️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8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No clear definition of which operation to count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for different inputs, but can’t establish a relationship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    ✔️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4"/>
          <p:cNvSpPr/>
          <p:nvPr/>
        </p:nvSpPr>
        <p:spPr>
          <a:xfrm>
            <a:off x="7321725" y="19158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7397925" y="3211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want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the algorithm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scalability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in terms of input size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3. Orders of Growth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 idea is simple</a:t>
            </a:r>
            <a:endParaRPr/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1166813"/>
            <a:ext cx="437197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870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 of addition</a:t>
            </a:r>
            <a:endParaRPr/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 of multiplication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6233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 Growth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44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